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Poppins"/>
              </a:defRPr>
            </a:pPr>
            <a:r>
              <a:t>B.TECH FINAL YEAR PROJECT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72865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Poppins"/>
              </a:defRPr>
            </a:pPr>
            <a:r>
              <a:t>Secure Desktop Authentication and</a:t>
            </a:r>
            <a:br/>
            <a:r>
              <a:t>System Protection Application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931920"/>
            <a:ext cx="36576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100">
                <a:solidFill>
                  <a:srgbClr val="94A3B8"/>
                </a:solidFill>
                <a:latin typeface="Inter"/>
              </a:defRPr>
            </a:pPr>
            <a:r>
              <a:t>A privacy-focused desktop security suite built to enforce standalone authentication gates, directory monitoring watchdogs, and local command isolation shields.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Poppins"/>
              </a:defRPr>
            </a:pPr>
            <a:r>
              <a:t>DEVELOPMENT BY: CS Design Group</a:t>
            </a:r>
          </a:p>
          <a:p>
            <a:pPr>
              <a:defRPr sz="850">
                <a:solidFill>
                  <a:srgbClr val="94A3B8"/>
                </a:solidFill>
                <a:latin typeface="Inter"/>
              </a:defRPr>
            </a:pPr>
            <a:r>
              <a:t>TARGET AUDIENCE: CS Evaluation Board  |  July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2011680"/>
            <a:ext cx="3840480" cy="38404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6B6D4"/>
                </a:solidFill>
                <a:latin typeface="Poppins"/>
              </a:defRPr>
            </a:pPr>
            <a:r>
              <a:t>🛡️</a:t>
            </a:r>
            <a:br/>
            <a:br/>
            <a:r>
              <a:t>LOCAL SECURE VAULT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Poppins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Poppins"/>
              </a:defRPr>
            </a:pPr>
            <a:r>
              <a:t>The Endpoint Security Crisis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FFFFFF"/>
                </a:solidFill>
                <a:latin typeface="Poppins"/>
              </a:defRPr>
            </a:pPr>
            <a:r>
              <a:t>Endpoint Access Under Attack</a:t>
            </a:r>
          </a:p>
          <a:p>
            <a:pPr>
              <a:lnSpc>
                <a:spcPct val="140000"/>
              </a:lnSpc>
              <a:defRPr sz="1100">
                <a:solidFill>
                  <a:srgbClr val="94A3B8"/>
                </a:solidFill>
                <a:latin typeface="Inter"/>
              </a:defRPr>
            </a:pPr>
            <a:r>
              <a:t>Modern workstation endpoints store critical academic, personal, and system files. However, the initial sign-on remains highly vulnerable. Once logged in, background systems lack observers, exposing local folders to execution theft.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1645920"/>
            <a:ext cx="4846320" cy="4114800"/>
          </a:xfrm>
          <a:prstGeom prst="rect">
            <a:avLst/>
          </a:prstGeom>
          <a:solidFill>
            <a:srgbClr val="0F172A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43F5E"/>
                </a:solidFill>
                <a:latin typeface="Consolas"/>
              </a:defRPr>
            </a:pPr>
            <a:r>
              <a:t>⚠️ BRUTE-FORCE / PHISHING VECTOR</a:t>
            </a:r>
            <a:br/>
            <a:br/>
            <a:r>
              <a:t>[ Attacker ] ────&gt; ( Credentials Leak ) ────&gt; [ User Workstation ]</a:t>
            </a:r>
            <a:br/>
            <a:br/>
            <a:r>
              <a:t>Status: UNPROTECTED POST-AUTHENTICATION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Poppins"/>
              </a:defRPr>
            </a:pPr>
            <a:r>
              <a:t>SECURITY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Poppins"/>
              </a:defRPr>
            </a:pPr>
            <a:r>
              <a:t>Why Current Access Solutions Fail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Poppins"/>
              </a:defRPr>
            </a:pPr>
            <a:r>
              <a:t>1. Simple Passwords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77440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050">
                <a:solidFill>
                  <a:srgbClr val="94A3B8"/>
                </a:solidFill>
                <a:latin typeface="Inter"/>
              </a:defRPr>
            </a:pPr>
            <a:r>
              <a:t>Common passwords and PIN walls are easily bypassed via brute force attacks, credential stuffing, and keylogging scripts.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82880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B5CF6"/>
                </a:solidFill>
                <a:latin typeface="Poppins"/>
              </a:defRPr>
            </a:pPr>
            <a:r>
              <a:t>2. Network MFA Dependencies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377440"/>
            <a:ext cx="1371600" cy="274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56032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050">
                <a:solidFill>
                  <a:srgbClr val="94A3B8"/>
                </a:solidFill>
                <a:latin typeface="Inter"/>
              </a:defRPr>
            </a:pPr>
            <a:r>
              <a:t>Biometrics and multi-factor apps require active network connections, failing immediately on air-gapped systems.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82880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B82F6"/>
                </a:solidFill>
                <a:latin typeface="Poppins"/>
              </a:defRPr>
            </a:pPr>
            <a:r>
              <a:t>3. Centralized Cloud EDRs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2377440"/>
            <a:ext cx="137160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56032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050">
                <a:solidFill>
                  <a:srgbClr val="94A3B8"/>
                </a:solidFill>
                <a:latin typeface="Inter"/>
              </a:defRPr>
            </a:pPr>
            <a:r>
              <a:t>Enterprise endpoint observers require constant telemetry uploads, presenting security risks for private user files.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Poppins"/>
              </a:defRPr>
            </a:pPr>
            <a:r>
              <a:t>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Poppins"/>
              </a:defRPr>
            </a:pPr>
            <a:r>
              <a:t>The Fragmented Defense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FFFFFF"/>
                </a:solidFill>
                <a:latin typeface="Poppins"/>
              </a:defRPr>
            </a:pPr>
            <a:r>
              <a:t>Disconnected Systems</a:t>
            </a:r>
          </a:p>
          <a:p>
            <a:pPr>
              <a:lnSpc>
                <a:spcPct val="140000"/>
              </a:lnSpc>
              <a:defRPr sz="1100">
                <a:solidFill>
                  <a:srgbClr val="94A3B8"/>
                </a:solidFill>
                <a:latin typeface="Inter"/>
              </a:defRPr>
            </a:pPr>
            <a:r>
              <a:t>Current security programs manage logins, directory auditing, and database archiving independently. This disjointed setup creates significant gaps, leaving local computers unprotected from physical intrusion.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45920"/>
            <a:ext cx="502920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400"/>
              </a:spcAft>
              <a:defRPr sz="1100" b="1">
                <a:solidFill>
                  <a:srgbClr val="F43F5E"/>
                </a:solidFill>
                <a:latin typeface="Poppins"/>
              </a:defRPr>
            </a:pPr>
            <a:r>
              <a:t>THE SECURITY GAP</a:t>
            </a:r>
          </a:p>
          <a:p>
            <a:pPr>
              <a:lnSpc>
                <a:spcPct val="140000"/>
              </a:lnSpc>
              <a:defRPr sz="1000">
                <a:solidFill>
                  <a:srgbClr val="94A3B8"/>
                </a:solidFill>
                <a:latin typeface="Inter"/>
              </a:defRPr>
            </a:pPr>
            <a:r>
              <a:t>There is a critical need for a lightweight, privacy-focused desktop application that integrates user verification, folder watchdogs, failed login alert engines, and local database logs into a single device-sovereign shield.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Poppins"/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Poppins"/>
              </a:defRPr>
            </a:pPr>
            <a:r>
              <a:t>Sovereign Local-First Protection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FFFFFF"/>
                </a:solidFill>
                <a:latin typeface="Poppins"/>
              </a:defRPr>
            </a:pPr>
            <a:r>
              <a:t>The Local Security Shield</a:t>
            </a:r>
          </a:p>
          <a:p>
            <a:pPr>
              <a:lnSpc>
                <a:spcPct val="140000"/>
              </a:lnSpc>
              <a:defRPr sz="1100">
                <a:solidFill>
                  <a:srgbClr val="94A3B8"/>
                </a:solidFill>
                <a:latin typeface="Inter"/>
              </a:defRPr>
            </a:pPr>
            <a:r>
              <a:t>We propose SecureDesktop Shield. By combining C# input controllers, directory observers, and local SQLite data files, the application intercepts security alerts and blocks directory access offline.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45920"/>
            <a:ext cx="502920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6B6D4"/>
                </a:solidFill>
                <a:latin typeface="Poppins"/>
              </a:defRPr>
            </a:pPr>
            <a:r>
              <a:t>🛡️</a:t>
            </a:r>
            <a:br/>
            <a:br/>
            <a:r>
              <a:t>SECUREDESKTOP DAEMON</a:t>
            </a:r>
            <a:br/>
            <a:br/>
            <a:r>
              <a:t>• Local Hashing (PBKDF2)</a:t>
            </a:r>
            <a:br/>
            <a:r>
              <a:t>• Asynchronous Observers</a:t>
            </a:r>
            <a:br/>
            <a:r>
              <a:t>• Autonomous Response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Poppins"/>
              </a:defRPr>
            </a:pPr>
            <a:r>
              <a:t>SYSTEM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Poppins"/>
              </a:defRPr>
            </a:pPr>
            <a:r>
              <a:t>Core Security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377440" cy="3657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600"/>
              </a:spcAft>
              <a:defRPr sz="1200" b="1">
                <a:solidFill>
                  <a:srgbClr val="FFFFFF"/>
                </a:solidFill>
                <a:latin typeface="Poppins"/>
              </a:defRPr>
            </a:pPr>
            <a:r>
              <a:t>Auth Module</a:t>
            </a:r>
          </a:p>
          <a:p>
            <a:pPr>
              <a:lnSpc>
                <a:spcPct val="135000"/>
              </a:lnSpc>
              <a:defRPr sz="900">
                <a:solidFill>
                  <a:srgbClr val="94A3B8"/>
                </a:solidFill>
                <a:latin typeface="Inter"/>
              </a:defRPr>
            </a:pPr>
            <a:r>
              <a:t>Locks keyboards on start. Verifies passwords with local PBKDF2 hashes.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2011680"/>
            <a:ext cx="2377440" cy="3657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600"/>
              </a:spcAft>
              <a:defRPr sz="1200" b="1">
                <a:solidFill>
                  <a:srgbClr val="FFFFFF"/>
                </a:solidFill>
                <a:latin typeface="Poppins"/>
              </a:defRPr>
            </a:pPr>
            <a:r>
              <a:t>System Observers</a:t>
            </a:r>
          </a:p>
          <a:p>
            <a:pPr>
              <a:lnSpc>
                <a:spcPct val="135000"/>
              </a:lnSpc>
              <a:defRPr sz="900">
                <a:solidFill>
                  <a:srgbClr val="94A3B8"/>
                </a:solidFill>
                <a:latin typeface="Inter"/>
              </a:defRPr>
            </a:pPr>
            <a:r>
              <a:t>Monitors directory paths and processes asynchronously.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2011680"/>
            <a:ext cx="2377440" cy="3657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600"/>
              </a:spcAft>
              <a:defRPr sz="1200" b="1">
                <a:solidFill>
                  <a:srgbClr val="FFFFFF"/>
                </a:solidFill>
                <a:latin typeface="Poppins"/>
              </a:defRPr>
            </a:pPr>
            <a:r>
              <a:t>Active Blocker</a:t>
            </a:r>
          </a:p>
          <a:p>
            <a:pPr>
              <a:lnSpc>
                <a:spcPct val="135000"/>
              </a:lnSpc>
              <a:defRPr sz="900">
                <a:solidFill>
                  <a:srgbClr val="94A3B8"/>
                </a:solidFill>
                <a:latin typeface="Inter"/>
              </a:defRPr>
            </a:pPr>
            <a:r>
              <a:t>Isolates networks and deploys lockout scripts if rules are breached.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2011680"/>
            <a:ext cx="2377440" cy="3657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600"/>
              </a:spcAft>
              <a:defRPr sz="1200" b="1">
                <a:solidFill>
                  <a:srgbClr val="FFFFFF"/>
                </a:solidFill>
                <a:latin typeface="Poppins"/>
              </a:defRPr>
            </a:pPr>
            <a:r>
              <a:t>Sovereign Logging</a:t>
            </a:r>
          </a:p>
          <a:p>
            <a:pPr>
              <a:lnSpc>
                <a:spcPct val="135000"/>
              </a:lnSpc>
              <a:defRPr sz="900">
                <a:solidFill>
                  <a:srgbClr val="94A3B8"/>
                </a:solidFill>
                <a:latin typeface="Inter"/>
              </a:defRPr>
            </a:pPr>
            <a:r>
              <a:t>Archiving threat metrics into encrypted local SQLite tables.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Poppins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Poppins"/>
              </a:defRPr>
            </a:pPr>
            <a:r>
              <a:t>Platform Stack &amp; Security Hooks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291840" cy="3931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600"/>
              </a:spcAft>
              <a:defRPr sz="1200" b="1">
                <a:solidFill>
                  <a:srgbClr val="FFFFFF"/>
                </a:solidFill>
                <a:latin typeface="Poppins"/>
              </a:defRPr>
            </a:pPr>
            <a:r>
              <a:t>Development Runtime</a:t>
            </a:r>
          </a:p>
          <a:p>
            <a:pPr>
              <a:lnSpc>
                <a:spcPct val="135000"/>
              </a:lnSpc>
              <a:defRPr sz="900">
                <a:solidFill>
                  <a:srgbClr val="94A3B8"/>
                </a:solidFill>
                <a:latin typeface="Inter"/>
              </a:defRPr>
            </a:pPr>
            <a:r>
              <a:t>C# and Python provide memory safety. They run background threads, handle folder monitoring APIs, and execute system commands.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011680"/>
            <a:ext cx="3291840" cy="3931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600"/>
              </a:spcAft>
              <a:defRPr sz="1200" b="1">
                <a:solidFill>
                  <a:srgbClr val="FFFFFF"/>
                </a:solidFill>
                <a:latin typeface="Poppins"/>
              </a:defRPr>
            </a:pPr>
            <a:r>
              <a:t>Offline Relational DB</a:t>
            </a:r>
          </a:p>
          <a:p>
            <a:pPr>
              <a:lnSpc>
                <a:spcPct val="135000"/>
              </a:lnSpc>
              <a:defRPr sz="900">
                <a:solidFill>
                  <a:srgbClr val="94A3B8"/>
                </a:solidFill>
                <a:latin typeface="Inter"/>
              </a:defRPr>
            </a:pPr>
            <a:r>
              <a:t>SQLite manages database storage. Credentials, configuration parameters, and threat history metrics are secured locally via AES-256.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011680"/>
            <a:ext cx="3291840" cy="3931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600"/>
              </a:spcAft>
              <a:defRPr sz="1200" b="1">
                <a:solidFill>
                  <a:srgbClr val="FFFFFF"/>
                </a:solidFill>
                <a:latin typeface="Poppins"/>
              </a:defRPr>
            </a:pPr>
            <a:r>
              <a:t>Desktop Graphical UI</a:t>
            </a:r>
          </a:p>
          <a:p>
            <a:pPr>
              <a:lnSpc>
                <a:spcPct val="135000"/>
              </a:lnSpc>
              <a:defRPr sz="900">
                <a:solidFill>
                  <a:srgbClr val="94A3B8"/>
                </a:solidFill>
                <a:latin typeface="Inter"/>
              </a:defRPr>
            </a:pPr>
            <a:r>
              <a:t>WPF/Electron frames provide interactive administrative panels, dashboard counters, and system log terminals.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Poppins"/>
              </a:defRPr>
            </a:pPr>
            <a:r>
              <a:t>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Poppins"/>
              </a:defRPr>
            </a:pPr>
            <a:r>
              <a:t>The Operational Lifecycle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371600" cy="3474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228600"/>
          <a:lstStyle/>
          <a:p>
            <a:pPr algn="ctr">
              <a:spcAft>
                <a:spcPts val="400"/>
              </a:spcAft>
              <a:defRPr sz="2000" b="1">
                <a:solidFill>
                  <a:srgbClr val="06B6D4"/>
                </a:solidFill>
                <a:latin typeface="Poppins"/>
              </a:defRPr>
            </a:pPr>
            <a:r>
              <a:t>01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Poppins"/>
              </a:defRPr>
            </a:pPr>
            <a:r>
              <a:t>Bootstrap</a:t>
            </a:r>
          </a:p>
          <a:p>
            <a:pPr>
              <a:lnSpc>
                <a:spcPct val="130000"/>
              </a:lnSpc>
              <a:defRPr sz="800">
                <a:solidFill>
                  <a:srgbClr val="94A3B8"/>
                </a:solidFill>
                <a:latin typeface="Inter"/>
              </a:defRPr>
            </a:pPr>
            <a:r>
              <a:t>Observers bind folder paths.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103120" y="3474720"/>
            <a:ext cx="22860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331720" y="2011680"/>
            <a:ext cx="1371600" cy="3474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228600"/>
          <a:lstStyle/>
          <a:p>
            <a:pPr algn="ctr">
              <a:spcAft>
                <a:spcPts val="400"/>
              </a:spcAft>
              <a:defRPr sz="2000" b="1">
                <a:solidFill>
                  <a:srgbClr val="8B5CF6"/>
                </a:solidFill>
                <a:latin typeface="Poppins"/>
              </a:defRPr>
            </a:pPr>
            <a:r>
              <a:t>02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Poppins"/>
              </a:defRPr>
            </a:pPr>
            <a:r>
              <a:t>Challenge</a:t>
            </a:r>
          </a:p>
          <a:p>
            <a:pPr>
              <a:lnSpc>
                <a:spcPct val="130000"/>
              </a:lnSpc>
              <a:defRPr sz="800">
                <a:solidFill>
                  <a:srgbClr val="94A3B8"/>
                </a:solidFill>
                <a:latin typeface="Inter"/>
              </a:defRPr>
            </a:pPr>
            <a:r>
              <a:t>Login overlays intercept keyboard access.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703320" y="3474720"/>
            <a:ext cx="22860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931920" y="2011680"/>
            <a:ext cx="1371600" cy="3474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228600"/>
          <a:lstStyle/>
          <a:p>
            <a:pPr algn="ctr">
              <a:spcAft>
                <a:spcPts val="400"/>
              </a:spcAft>
              <a:defRPr sz="2000" b="1">
                <a:solidFill>
                  <a:srgbClr val="06B6D4"/>
                </a:solidFill>
                <a:latin typeface="Poppins"/>
              </a:defRPr>
            </a:pPr>
            <a:r>
              <a:t>03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Poppins"/>
              </a:defRPr>
            </a:pPr>
            <a:r>
              <a:t>Decide</a:t>
            </a:r>
          </a:p>
          <a:p>
            <a:pPr>
              <a:lnSpc>
                <a:spcPct val="130000"/>
              </a:lnSpc>
              <a:defRPr sz="800">
                <a:solidFill>
                  <a:srgbClr val="94A3B8"/>
                </a:solidFill>
                <a:latin typeface="Inter"/>
              </a:defRPr>
            </a:pPr>
            <a:r>
              <a:t>Validates password signature locally.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3474720"/>
            <a:ext cx="22860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532120" y="2011680"/>
            <a:ext cx="1371600" cy="3474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228600"/>
          <a:lstStyle/>
          <a:p>
            <a:pPr algn="ctr">
              <a:spcAft>
                <a:spcPts val="400"/>
              </a:spcAft>
              <a:defRPr sz="2000" b="1">
                <a:solidFill>
                  <a:srgbClr val="8B5CF6"/>
                </a:solidFill>
                <a:latin typeface="Poppins"/>
              </a:defRPr>
            </a:pPr>
            <a:r>
              <a:t>04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Poppins"/>
              </a:defRPr>
            </a:pPr>
            <a:r>
              <a:t>Monitor</a:t>
            </a:r>
          </a:p>
          <a:p>
            <a:pPr>
              <a:lnSpc>
                <a:spcPct val="130000"/>
              </a:lnSpc>
              <a:defRPr sz="800">
                <a:solidFill>
                  <a:srgbClr val="94A3B8"/>
                </a:solidFill>
                <a:latin typeface="Inter"/>
              </a:defRPr>
            </a:pPr>
            <a:r>
              <a:t>Asynchronous loop watches folders.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03720" y="3474720"/>
            <a:ext cx="22860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0" y="2011680"/>
            <a:ext cx="1371600" cy="3474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228600"/>
          <a:lstStyle/>
          <a:p>
            <a:pPr algn="ctr">
              <a:spcAft>
                <a:spcPts val="400"/>
              </a:spcAft>
              <a:defRPr sz="2000" b="1">
                <a:solidFill>
                  <a:srgbClr val="06B6D4"/>
                </a:solidFill>
                <a:latin typeface="Poppins"/>
              </a:defRPr>
            </a:pPr>
            <a:r>
              <a:t>05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Poppins"/>
              </a:defRPr>
            </a:pPr>
            <a:r>
              <a:t>Evaluate</a:t>
            </a:r>
          </a:p>
          <a:p>
            <a:pPr>
              <a:lnSpc>
                <a:spcPct val="130000"/>
              </a:lnSpc>
              <a:defRPr sz="800">
                <a:solidFill>
                  <a:srgbClr val="94A3B8"/>
                </a:solidFill>
                <a:latin typeface="Inter"/>
              </a:defRPr>
            </a:pPr>
            <a:r>
              <a:t>Analyzes event activity threat levels.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3474720"/>
            <a:ext cx="22860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732520" y="2011680"/>
            <a:ext cx="1371600" cy="3474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228600"/>
          <a:lstStyle/>
          <a:p>
            <a:pPr algn="ctr">
              <a:spcAft>
                <a:spcPts val="400"/>
              </a:spcAft>
              <a:defRPr sz="2000" b="1">
                <a:solidFill>
                  <a:srgbClr val="8B5CF6"/>
                </a:solidFill>
                <a:latin typeface="Poppins"/>
              </a:defRPr>
            </a:pPr>
            <a:r>
              <a:t>06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Poppins"/>
              </a:defRPr>
            </a:pPr>
            <a:r>
              <a:t>Respond</a:t>
            </a:r>
          </a:p>
          <a:p>
            <a:pPr>
              <a:lnSpc>
                <a:spcPct val="130000"/>
              </a:lnSpc>
              <a:defRPr sz="800">
                <a:solidFill>
                  <a:srgbClr val="94A3B8"/>
                </a:solidFill>
                <a:latin typeface="Inter"/>
              </a:defRPr>
            </a:pPr>
            <a:r>
              <a:t>Deploys PowerShell active lockouts.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04120" y="3474720"/>
            <a:ext cx="22860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332720" y="2011680"/>
            <a:ext cx="1371600" cy="3474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228600"/>
          <a:lstStyle/>
          <a:p>
            <a:pPr algn="ctr">
              <a:spcAft>
                <a:spcPts val="400"/>
              </a:spcAft>
              <a:defRPr sz="2000" b="1">
                <a:solidFill>
                  <a:srgbClr val="06B6D4"/>
                </a:solidFill>
                <a:latin typeface="Poppins"/>
              </a:defRPr>
            </a:pPr>
            <a:r>
              <a:t>07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Poppins"/>
              </a:defRPr>
            </a:pPr>
            <a:r>
              <a:t>Archiving</a:t>
            </a:r>
          </a:p>
          <a:p>
            <a:pPr>
              <a:lnSpc>
                <a:spcPct val="130000"/>
              </a:lnSpc>
              <a:defRPr sz="800">
                <a:solidFill>
                  <a:srgbClr val="94A3B8"/>
                </a:solidFill>
                <a:latin typeface="Inter"/>
              </a:defRPr>
            </a:pPr>
            <a:r>
              <a:t>Saves threat details in SQLite DB.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Poppins"/>
              </a:defRPr>
            </a:pPr>
            <a:r>
              <a:t>AUTHENTICATION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Poppins"/>
              </a:defRPr>
            </a:pPr>
            <a:r>
              <a:t>Cryptographic Sign-on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FFFFFF"/>
                </a:solidFill>
                <a:latin typeface="Poppins"/>
              </a:defRPr>
            </a:pPr>
            <a:r>
              <a:t>Secure Sign-On</a:t>
            </a:r>
          </a:p>
          <a:p>
            <a:pPr>
              <a:lnSpc>
                <a:spcPct val="140000"/>
              </a:lnSpc>
              <a:defRPr sz="1100">
                <a:solidFill>
                  <a:srgbClr val="94A3B8"/>
                </a:solidFill>
                <a:latin typeface="Inter"/>
              </a:defRPr>
            </a:pPr>
            <a:r>
              <a:t>Sign-on requests bypass default OS credential buffers. SecureDesktop Shield salts input hashes and checks signatures locally.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45920"/>
            <a:ext cx="502920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Consolas"/>
              </a:defRPr>
            </a:pPr>
            <a:r>
              <a:t>🔐 PBKDF2 HASH ROUTINE</a:t>
            </a:r>
            <a:br/>
            <a:br/>
            <a:r>
              <a:t>[ Plaintext PIN ]</a:t>
            </a:r>
            <a:br/>
            <a:r>
              <a:t>       │</a:t>
            </a:r>
            <a:br/>
            <a:r>
              <a:t>       ▼</a:t>
            </a:r>
            <a:br/>
            <a:r>
              <a:t>( SHA-256 Hashing )</a:t>
            </a:r>
            <a:br/>
            <a:r>
              <a:t>       │</a:t>
            </a:r>
            <a:br/>
            <a:r>
              <a:t>       ▼</a:t>
            </a:r>
            <a:br/>
            <a:r>
              <a:t>[ Signature Compare ]</a:t>
            </a:r>
            <a:br/>
            <a:r>
              <a:t>       │</a:t>
            </a:r>
            <a:br/>
            <a:r>
              <a:t>       ▼</a:t>
            </a:r>
            <a:br/>
            <a:r>
              <a:t>( Grant Desktop Access 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Poppins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Poppins"/>
              </a:defRPr>
            </a:pPr>
            <a:r>
              <a:t>Modular Component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10896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600"/>
              </a:spcAft>
              <a:defRPr sz="1200" b="1">
                <a:solidFill>
                  <a:srgbClr val="FFFFFF"/>
                </a:solidFill>
                <a:latin typeface="Poppins"/>
              </a:defRPr>
            </a:pPr>
            <a:r>
              <a:t>Presentation Layer (UI)</a:t>
            </a:r>
          </a:p>
          <a:p>
            <a:pPr>
              <a:lnSpc>
                <a:spcPct val="135000"/>
              </a:lnSpc>
              <a:defRPr sz="900">
                <a:solidFill>
                  <a:srgbClr val="94A3B8"/>
                </a:solidFill>
                <a:latin typeface="Inter"/>
              </a:defRPr>
            </a:pPr>
            <a:r>
              <a:t>Manages lock screen overlays, configuration sliders, active device counters, and local database diagnostic views.</a:t>
            </a:r>
            <a:br/>
            <a:br/>
            <a:r>
              <a:t>- Login Overlay UI</a:t>
            </a:r>
            <a:br/>
            <a:r>
              <a:t>- Security Dashboard</a:t>
            </a:r>
            <a:br/>
            <a:r>
              <a:t>- Local Event log Viewer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1280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600"/>
              </a:spcAft>
              <a:defRPr sz="1200" b="1">
                <a:solidFill>
                  <a:srgbClr val="FFFFFF"/>
                </a:solidFill>
                <a:latin typeface="Poppins"/>
              </a:defRPr>
            </a:pPr>
            <a:r>
              <a:t>Auth Gate Module</a:t>
            </a:r>
          </a:p>
          <a:p>
            <a:pPr>
              <a:lnSpc>
                <a:spcPct val="135000"/>
              </a:lnSpc>
              <a:defRPr sz="900">
                <a:solidFill>
                  <a:srgbClr val="94A3B8"/>
                </a:solidFill>
                <a:latin typeface="Inter"/>
              </a:defRPr>
            </a:pPr>
            <a:r>
              <a:t>Verifies credential hashes locally and checks login boundaries.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200400"/>
            <a:ext cx="3291840" cy="1280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600"/>
              </a:spcAft>
              <a:defRPr sz="1200" b="1">
                <a:solidFill>
                  <a:srgbClr val="FFFFFF"/>
                </a:solidFill>
                <a:latin typeface="Poppins"/>
              </a:defRPr>
            </a:pPr>
            <a:r>
              <a:t>Watchdog Observers</a:t>
            </a:r>
          </a:p>
          <a:p>
            <a:pPr>
              <a:lnSpc>
                <a:spcPct val="135000"/>
              </a:lnSpc>
              <a:defRPr sz="900">
                <a:solidFill>
                  <a:srgbClr val="94A3B8"/>
                </a:solidFill>
                <a:latin typeface="Inter"/>
              </a:defRPr>
            </a:pPr>
            <a:r>
              <a:t>Continuously inspects selected directories asynchronously.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754880"/>
            <a:ext cx="3291840" cy="1280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600"/>
              </a:spcAft>
              <a:defRPr sz="1200" b="1">
                <a:solidFill>
                  <a:srgbClr val="FFFFFF"/>
                </a:solidFill>
                <a:latin typeface="Poppins"/>
              </a:defRPr>
            </a:pPr>
            <a:r>
              <a:t>Response Orchestrator</a:t>
            </a:r>
          </a:p>
          <a:p>
            <a:pPr>
              <a:lnSpc>
                <a:spcPct val="135000"/>
              </a:lnSpc>
              <a:defRPr sz="900">
                <a:solidFill>
                  <a:srgbClr val="94A3B8"/>
                </a:solidFill>
                <a:latin typeface="Inter"/>
              </a:defRPr>
            </a:pPr>
            <a:r>
              <a:t>Executes Powershell lockdown scripts on anomaly events.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645920"/>
            <a:ext cx="310896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600"/>
              </a:spcAft>
              <a:defRPr sz="1200" b="1">
                <a:solidFill>
                  <a:srgbClr val="FFFFFF"/>
                </a:solidFill>
                <a:latin typeface="Poppins"/>
              </a:defRPr>
            </a:pPr>
            <a:r>
              <a:t>Local Storage Layer</a:t>
            </a:r>
          </a:p>
          <a:p>
            <a:pPr>
              <a:lnSpc>
                <a:spcPct val="135000"/>
              </a:lnSpc>
              <a:defRPr sz="900">
                <a:solidFill>
                  <a:srgbClr val="94A3B8"/>
                </a:solidFill>
                <a:latin typeface="Inter"/>
              </a:defRPr>
            </a:pPr>
            <a:r>
              <a:t>Stores credential hashes, configuration profiles, alerts, and historical event details offline on the system disk.</a:t>
            </a:r>
            <a:br/>
            <a:br/>
            <a:r>
              <a:t>- Encrypted Database File</a:t>
            </a:r>
            <a:br/>
            <a:r>
              <a:t>- Offline Audit log tables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Poppins"/>
              </a:defRPr>
            </a:pPr>
            <a:r>
              <a:t>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Poppins"/>
              </a:defRPr>
            </a:pPr>
            <a:r>
              <a:t>Sovereign Database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FFFFFF"/>
                </a:solidFill>
                <a:latin typeface="Poppins"/>
              </a:defRPr>
            </a:pPr>
            <a:r>
              <a:t>Sovereign Database</a:t>
            </a:r>
          </a:p>
          <a:p>
            <a:pPr>
              <a:lnSpc>
                <a:spcPct val="140000"/>
              </a:lnSpc>
              <a:defRPr sz="1100">
                <a:solidFill>
                  <a:srgbClr val="94A3B8"/>
                </a:solidFill>
                <a:latin typeface="Inter"/>
              </a:defRPr>
            </a:pPr>
            <a:r>
              <a:t>We prioritize database isolation. All table schemas, threat events, and logs are hosted offline on the host disk, secured by AES-256 standard encryption.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45920"/>
            <a:ext cx="502920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B981"/>
                </a:solidFill>
                <a:latin typeface="Consolas"/>
              </a:defRPr>
            </a:pPr>
            <a:r>
              <a:t>💾 SQLite local_vault.db</a:t>
            </a:r>
            <a:br/>
            <a:br/>
            <a:r>
              <a:t>┌─────────────────────────────┐</a:t>
            </a:r>
            <a:br/>
            <a:r>
              <a:t>│  tbl_user_hashes            │</a:t>
            </a:r>
            <a:br/>
            <a:r>
              <a:t>├─────────────────────────────┤</a:t>
            </a:r>
            <a:br/>
            <a:r>
              <a:t>│  tbl_watchdog_logs          │</a:t>
            </a:r>
            <a:br/>
            <a:r>
              <a:t>├─────────────────────────────┤</a:t>
            </a:r>
            <a:br/>
            <a:r>
              <a:t>│  tbl_incident_alerts        │</a:t>
            </a:r>
            <a:br/>
            <a:r>
              <a:t>└─────────────────────────────┘</a:t>
            </a:r>
            <a:br/>
            <a:br/>
            <a:r>
              <a:t>Encryption Standard: AES-256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Poppins"/>
              </a:defRPr>
            </a:pPr>
            <a:r>
              <a:t>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Poppins"/>
              </a:defRPr>
            </a:pPr>
            <a:r>
              <a:t>Independent Security Engines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Poppins"/>
              </a:defRPr>
            </a:pPr>
            <a:r>
              <a:t>Credentials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77440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050">
                <a:solidFill>
                  <a:srgbClr val="94A3B8"/>
                </a:solidFill>
                <a:latin typeface="Inter"/>
              </a:defRPr>
            </a:pPr>
            <a:r>
              <a:t>Validates user identities locally and manages invalid sign-in timeouts to block automated attacks.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82880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Poppins"/>
              </a:defRPr>
            </a:pPr>
            <a:r>
              <a:t>Directory watchdog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377440"/>
            <a:ext cx="137160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56032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050">
                <a:solidFill>
                  <a:srgbClr val="94A3B8"/>
                </a:solidFill>
                <a:latin typeface="Inter"/>
              </a:defRPr>
            </a:pPr>
            <a:r>
              <a:t>Asynchronously observes targeted system directories to detect rogue process access.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82880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B5CF6"/>
                </a:solidFill>
                <a:latin typeface="Poppins"/>
              </a:defRPr>
            </a:pPr>
            <a:r>
              <a:t>Active Response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2377440"/>
            <a:ext cx="1371600" cy="274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56032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050">
                <a:solidFill>
                  <a:srgbClr val="94A3B8"/>
                </a:solidFill>
                <a:latin typeface="Inter"/>
              </a:defRPr>
            </a:pPr>
            <a:r>
              <a:t>Generates user alert overlays and locks desktop operations if threat values exceed safety bounds.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Poppins"/>
              </a:defRPr>
            </a:pPr>
            <a:r>
              <a:t>THREAT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Poppins"/>
              </a:defRPr>
            </a:pPr>
            <a:r>
              <a:t>Rule-Based Anomaly Scoring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FFFFFF"/>
                </a:solidFill>
                <a:latin typeface="Poppins"/>
              </a:defRPr>
            </a:pPr>
            <a:r>
              <a:t>Heuristic Analysis</a:t>
            </a:r>
          </a:p>
          <a:p>
            <a:pPr>
              <a:lnSpc>
                <a:spcPct val="140000"/>
              </a:lnSpc>
              <a:defRPr sz="1100">
                <a:solidFill>
                  <a:srgbClr val="94A3B8"/>
                </a:solidFill>
                <a:latin typeface="Inter"/>
              </a:defRPr>
            </a:pPr>
            <a:r>
              <a:t>The response orchestrator tracks endpoint events. If sign-in failures increase or registry files are changed, it triggers alarms.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45920"/>
            <a:ext cx="502920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43F5E"/>
                </a:solidFill>
                <a:latin typeface="Consolas"/>
              </a:defRPr>
            </a:pPr>
            <a:r>
              <a:t>⚠️ THREAT LEVEL MONITOR</a:t>
            </a:r>
            <a:br/>
            <a:br/>
            <a:r>
              <a:t>[ Anomaly Score: 85/100 ]</a:t>
            </a:r>
            <a:br/>
            <a:br/>
            <a:r>
              <a:t>[ Status: HIGH CRITICALITY ]</a:t>
            </a:r>
            <a:br/>
            <a:br/>
            <a:r>
              <a:t>- High frequency login failures</a:t>
            </a:r>
            <a:br/>
            <a:r>
              <a:t>- Directory access violations</a:t>
            </a:r>
            <a:br/>
            <a:br/>
            <a:r>
              <a:t>Action: Powershell lock deployed.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Poppins"/>
              </a:defRPr>
            </a:pPr>
            <a:r>
              <a:t>DASHBOARD 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Poppins"/>
              </a:defRPr>
            </a:pPr>
            <a:r>
              <a:t>1. Real-time Admin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645920"/>
            <a:ext cx="9448495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1645920"/>
            <a:ext cx="9448495" cy="41148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36192" y="1773936"/>
            <a:ext cx="109728" cy="109728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00784" y="1773936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65376" y="1773936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1719072"/>
            <a:ext cx="76196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94A3B8"/>
                </a:solidFill>
                <a:latin typeface="Poppins"/>
              </a:defRPr>
            </a:pPr>
            <a:r>
              <a:t>SecureDesktop Shield - Admin dashboard console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2377440"/>
            <a:ext cx="2560320" cy="1097280"/>
          </a:xfrm>
          <a:prstGeom prst="roundRect">
            <a:avLst/>
          </a:prstGeom>
          <a:solidFill>
            <a:srgbClr val="03071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0B981"/>
                </a:solidFill>
                <a:latin typeface="Poppins"/>
              </a:defRPr>
            </a:pPr>
            <a:r>
              <a:t>SHIELD ACTIVE</a:t>
            </a:r>
            <a:br/>
            <a:br/>
            <a:r>
              <a:t>Status: Secure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2377440"/>
            <a:ext cx="2560320" cy="1097280"/>
          </a:xfrm>
          <a:prstGeom prst="roundRect">
            <a:avLst/>
          </a:prstGeom>
          <a:solidFill>
            <a:srgbClr val="03071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43F5E"/>
                </a:solidFill>
                <a:latin typeface="Poppins"/>
              </a:defRPr>
            </a:pPr>
            <a:r>
              <a:t>THREATS LOCKED</a:t>
            </a:r>
            <a:br/>
            <a:br/>
            <a:r>
              <a:t>0 Alerts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2377440"/>
            <a:ext cx="2560320" cy="1097280"/>
          </a:xfrm>
          <a:prstGeom prst="roundRect">
            <a:avLst/>
          </a:prstGeom>
          <a:solidFill>
            <a:srgbClr val="03071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6B6D4"/>
                </a:solidFill>
                <a:latin typeface="Poppins"/>
              </a:defRPr>
            </a:pPr>
            <a:r>
              <a:t>DIR OBSERVERS</a:t>
            </a:r>
            <a:br/>
            <a:br/>
            <a:r>
              <a:t>3 Folders Active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0" y="3749040"/>
            <a:ext cx="8412480" cy="1828800"/>
          </a:xfrm>
          <a:prstGeom prst="rect">
            <a:avLst/>
          </a:prstGeom>
          <a:solidFill>
            <a:srgbClr val="03071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850">
                <a:solidFill>
                  <a:srgbClr val="94A3B8"/>
                </a:solidFill>
                <a:latin typeface="Consolas"/>
              </a:defRPr>
            </a:pPr>
            <a:r>
              <a:t>[SYSTEM] 21:00:10 - Observers active. Watchdog polling threads...</a:t>
            </a:r>
            <a:br/>
            <a:r>
              <a:t>[MONITOR] 21:00:12 - Listening: C:\Users\User\Documents\Finance</a:t>
            </a:r>
            <a:br/>
            <a:r>
              <a:t>[READ] 21:00:15 - explorer.exe read financial.csv (Status: Secure)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Poppins"/>
              </a:defRPr>
            </a:pPr>
            <a:r>
              <a:t>IMPLEMENTATION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Poppins"/>
              </a:defRPr>
            </a:pPr>
            <a:r>
              <a:t>Development Phases &amp; Schedule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468880" cy="3931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600"/>
              </a:spcAft>
              <a:defRPr sz="1200" b="1">
                <a:solidFill>
                  <a:srgbClr val="FFFFFF"/>
                </a:solidFill>
                <a:latin typeface="Poppins"/>
              </a:defRPr>
            </a:pPr>
            <a:r>
              <a:t>Phase I: Design</a:t>
            </a:r>
          </a:p>
          <a:p>
            <a:pPr>
              <a:lnSpc>
                <a:spcPct val="135000"/>
              </a:lnSpc>
              <a:defRPr sz="900">
                <a:solidFill>
                  <a:srgbClr val="94A3B8"/>
                </a:solidFill>
                <a:latin typeface="Inter"/>
              </a:defRPr>
            </a:pPr>
            <a:r>
              <a:t>Initial scope definition, directory vulnerability reviews, threat profile mapping, and database schema outlines.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657600"/>
            <a:ext cx="27432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74720" y="2011680"/>
            <a:ext cx="2468880" cy="3931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600"/>
              </a:spcAft>
              <a:defRPr sz="1200" b="1">
                <a:solidFill>
                  <a:srgbClr val="FFFFFF"/>
                </a:solidFill>
                <a:latin typeface="Poppins"/>
              </a:defRPr>
            </a:pPr>
            <a:r>
              <a:t>Phase II: Engine Core</a:t>
            </a:r>
          </a:p>
          <a:p>
            <a:pPr>
              <a:lnSpc>
                <a:spcPct val="135000"/>
              </a:lnSpc>
              <a:defRPr sz="900">
                <a:solidFill>
                  <a:srgbClr val="94A3B8"/>
                </a:solidFill>
                <a:latin typeface="Inter"/>
              </a:defRPr>
            </a:pPr>
            <a:r>
              <a:t>Writing the standalone local login shells, creating PBKDF2 hashing routines, and building thread watchers.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3657600"/>
            <a:ext cx="27432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2468880" cy="3931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600"/>
              </a:spcAft>
              <a:defRPr sz="1200" b="1">
                <a:solidFill>
                  <a:srgbClr val="FFFFFF"/>
                </a:solidFill>
                <a:latin typeface="Poppins"/>
              </a:defRPr>
            </a:pPr>
            <a:r>
              <a:t>Phase III: Integration</a:t>
            </a:r>
          </a:p>
          <a:p>
            <a:pPr>
              <a:lnSpc>
                <a:spcPct val="135000"/>
              </a:lnSpc>
              <a:defRPr sz="900">
                <a:solidFill>
                  <a:srgbClr val="94A3B8"/>
                </a:solidFill>
                <a:latin typeface="Inter"/>
              </a:defRPr>
            </a:pPr>
            <a:r>
              <a:t>Creating the C# WPF admin console, connecting SQLite queries, and hooking power shell locking handlers.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3657600"/>
            <a:ext cx="27432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20" y="2011680"/>
            <a:ext cx="2468880" cy="3931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600"/>
              </a:spcAft>
              <a:defRPr sz="1200" b="1">
                <a:solidFill>
                  <a:srgbClr val="FFFFFF"/>
                </a:solidFill>
                <a:latin typeface="Poppins"/>
              </a:defRPr>
            </a:pPr>
            <a:r>
              <a:t>Phase IV: Validation</a:t>
            </a:r>
          </a:p>
          <a:p>
            <a:pPr>
              <a:lnSpc>
                <a:spcPct val="135000"/>
              </a:lnSpc>
              <a:defRPr sz="900">
                <a:solidFill>
                  <a:srgbClr val="94A3B8"/>
                </a:solidFill>
                <a:latin typeface="Inter"/>
              </a:defRPr>
            </a:pPr>
            <a:r>
              <a:t>Simulating dictionary attacks, monitoring process loop footprints, and conducting final penetration tests.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Poppins"/>
              </a:defRPr>
            </a:pPr>
            <a:r>
              <a:t>EXPECTED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Poppins"/>
              </a:defRPr>
            </a:pPr>
            <a:r>
              <a:t>Verified System Protection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FFFFFF"/>
                </a:solidFill>
                <a:latin typeface="Poppins"/>
              </a:defRPr>
            </a:pPr>
            <a:r>
              <a:t>Verified System Metrics</a:t>
            </a:r>
          </a:p>
          <a:p>
            <a:pPr>
              <a:lnSpc>
                <a:spcPct val="140000"/>
              </a:lnSpc>
              <a:defRPr sz="1100">
                <a:solidFill>
                  <a:srgbClr val="94A3B8"/>
                </a:solidFill>
                <a:latin typeface="Inter"/>
              </a:defRPr>
            </a:pPr>
            <a:r>
              <a:t>System testing confirms that SecureDesktop runs anti-intrusion tasks and observes file edits with minimal footprint, protecting workspaces efficiently.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45920"/>
            <a:ext cx="5029200" cy="1280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228600"/>
          <a:lstStyle/>
          <a:p>
            <a:pPr algn="ctr">
              <a:spcAft>
                <a:spcPts val="200"/>
              </a:spcAft>
              <a:defRPr sz="2800" b="1">
                <a:solidFill>
                  <a:srgbClr val="06B6D4"/>
                </a:solidFill>
                <a:latin typeface="Poppins"/>
              </a:defRPr>
            </a:pPr>
            <a:r>
              <a:t>100% Offline</a:t>
            </a:r>
          </a:p>
          <a:p>
            <a:pPr algn="ctr">
              <a:defRPr sz="800" b="1">
                <a:solidFill>
                  <a:srgbClr val="94A3B8"/>
                </a:solidFill>
                <a:latin typeface="Inter"/>
              </a:defRPr>
            </a:pPr>
            <a:r>
              <a:t>ZERO TELEMETRY CLOUD LEAKS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108960"/>
            <a:ext cx="5029200" cy="1280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228600"/>
          <a:lstStyle/>
          <a:p>
            <a:pPr algn="ctr">
              <a:spcAft>
                <a:spcPts val="200"/>
              </a:spcAft>
              <a:defRPr sz="2800" b="1">
                <a:solidFill>
                  <a:srgbClr val="8B5CF6"/>
                </a:solidFill>
                <a:latin typeface="Poppins"/>
              </a:defRPr>
            </a:pPr>
            <a:r>
              <a:t>&lt; 3% CPU</a:t>
            </a:r>
          </a:p>
          <a:p>
            <a:pPr algn="ctr">
              <a:defRPr sz="800" b="1">
                <a:solidFill>
                  <a:srgbClr val="94A3B8"/>
                </a:solidFill>
                <a:latin typeface="Inter"/>
              </a:defRPr>
            </a:pPr>
            <a:r>
              <a:t>SYSTEM PROCESSING OVERHEAD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4572000"/>
            <a:ext cx="5029200" cy="1280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228600"/>
          <a:lstStyle/>
          <a:p>
            <a:pPr algn="ctr">
              <a:spcAft>
                <a:spcPts val="200"/>
              </a:spcAft>
              <a:defRPr sz="2800" b="1">
                <a:solidFill>
                  <a:srgbClr val="10B981"/>
                </a:solidFill>
                <a:latin typeface="Poppins"/>
              </a:defRPr>
            </a:pPr>
            <a:r>
              <a:t>&lt; 20ms</a:t>
            </a:r>
          </a:p>
          <a:p>
            <a:pPr algn="ctr">
              <a:defRPr sz="800" b="1">
                <a:solidFill>
                  <a:srgbClr val="94A3B8"/>
                </a:solidFill>
                <a:latin typeface="Inter"/>
              </a:defRPr>
            </a:pPr>
            <a:r>
              <a:t>RESPONSE TRIGGER REACTION LATENCY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Poppins"/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Poppins"/>
              </a:defRPr>
            </a:pPr>
            <a:r>
              <a:t>Platform Expansion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291840" cy="3931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600"/>
              </a:spcAft>
              <a:defRPr sz="1200" b="1">
                <a:solidFill>
                  <a:srgbClr val="FFFFFF"/>
                </a:solidFill>
                <a:latin typeface="Poppins"/>
              </a:defRPr>
            </a:pPr>
            <a:r>
              <a:t>Phase I: Advanced Auth</a:t>
            </a:r>
          </a:p>
          <a:p>
            <a:pPr>
              <a:lnSpc>
                <a:spcPct val="135000"/>
              </a:lnSpc>
              <a:defRPr sz="900">
                <a:solidFill>
                  <a:srgbClr val="94A3B8"/>
                </a:solidFill>
                <a:latin typeface="Inter"/>
              </a:defRPr>
            </a:pPr>
            <a:r>
              <a:t>Extend verification logic to support FIDO2 security keys (e.g. YubiKey via hardware hooks) and native OS face/fingerprint biometric logins.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011680"/>
            <a:ext cx="3291840" cy="3931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600"/>
              </a:spcAft>
              <a:defRPr sz="1200" b="1">
                <a:solidFill>
                  <a:srgbClr val="FFFFFF"/>
                </a:solidFill>
                <a:latin typeface="Poppins"/>
              </a:defRPr>
            </a:pPr>
            <a:r>
              <a:t>Phase II: Local Anomaly ML</a:t>
            </a:r>
          </a:p>
          <a:p>
            <a:pPr>
              <a:lnSpc>
                <a:spcPct val="135000"/>
              </a:lnSpc>
              <a:defRPr sz="900">
                <a:solidFill>
                  <a:srgbClr val="94A3B8"/>
                </a:solidFill>
                <a:latin typeface="Inter"/>
              </a:defRPr>
            </a:pPr>
            <a:r>
              <a:t>Deploy client-side machine learning classifiers to study user habits, flagging abnormal background file read tasks without remote analysis.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011680"/>
            <a:ext cx="3291840" cy="3931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600"/>
              </a:spcAft>
              <a:defRPr sz="1200" b="1">
                <a:solidFill>
                  <a:srgbClr val="FFFFFF"/>
                </a:solidFill>
                <a:latin typeface="Poppins"/>
              </a:defRPr>
            </a:pPr>
            <a:r>
              <a:t>Phase III: Encrypted Sync</a:t>
            </a:r>
          </a:p>
          <a:p>
            <a:pPr>
              <a:lnSpc>
                <a:spcPct val="135000"/>
              </a:lnSpc>
              <a:defRPr sz="900">
                <a:solidFill>
                  <a:srgbClr val="94A3B8"/>
                </a:solidFill>
                <a:latin typeface="Inter"/>
              </a:defRPr>
            </a:pPr>
            <a:r>
              <a:t>Develop optional end-to-end encrypted backup schemes. Synchronizes alert logs to mobile devices without database exposure.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Poppins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Poppins"/>
              </a:defRPr>
            </a:pPr>
            <a:r>
              <a:t>Key Standards &amp; Publications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50">
                <a:solidFill>
                  <a:srgbClr val="94A3B8"/>
                </a:solidFill>
                <a:latin typeface="Inter"/>
              </a:defRPr>
            </a:pPr>
            <a:r>
              <a:t>📋 NIST SP 800-63B: Digital Identity Guidelines - Authentication and Lifecycle Management standards.</a:t>
            </a:r>
          </a:p>
          <a:p>
            <a:pPr>
              <a:spcAft>
                <a:spcPts val="1200"/>
              </a:spcAft>
              <a:defRPr sz="1050">
                <a:solidFill>
                  <a:srgbClr val="94A3B8"/>
                </a:solidFill>
                <a:latin typeface="Inter"/>
              </a:defRPr>
            </a:pPr>
            <a:r>
              <a:t>📋 NIST SP 800-207: Zero Trust Architecture guidelines for continuous authentication.</a:t>
            </a:r>
          </a:p>
          <a:p>
            <a:pPr>
              <a:spcAft>
                <a:spcPts val="1200"/>
              </a:spcAft>
              <a:defRPr sz="1050">
                <a:solidFill>
                  <a:srgbClr val="94A3B8"/>
                </a:solidFill>
                <a:latin typeface="Inter"/>
              </a:defRPr>
            </a:pPr>
            <a:r>
              <a:t>🔒 OWASP Authentication Cheat Sheet: Best practices for hashing iterations, password validation salts, and lockscreen safety configurations.</a:t>
            </a:r>
          </a:p>
          <a:p>
            <a:pPr>
              <a:spcAft>
                <a:spcPts val="1200"/>
              </a:spcAft>
              <a:defRPr sz="1050">
                <a:solidFill>
                  <a:srgbClr val="94A3B8"/>
                </a:solidFill>
                <a:latin typeface="Inter"/>
              </a:defRPr>
            </a:pPr>
            <a:r>
              <a:t>📂 SQLite Security Documentation: Secure relational storage parameters and column AES encryption guidelines.</a:t>
            </a:r>
          </a:p>
          <a:p>
            <a:pPr>
              <a:spcAft>
                <a:spcPts val="1200"/>
              </a:spcAft>
              <a:defRPr sz="1050">
                <a:solidFill>
                  <a:srgbClr val="94A3B8"/>
                </a:solidFill>
                <a:latin typeface="Inter"/>
              </a:defRPr>
            </a:pPr>
            <a:r>
              <a:t>🎓 IEEE &amp; ACM Journals: Research papers on lightweight endpoint detection observers and user behavior heuristics.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06B6D4"/>
                </a:solidFill>
                <a:latin typeface="Poppins"/>
              </a:defRPr>
            </a:pPr>
            <a:r>
              <a:t>SecureDesktop Shield</a:t>
            </a:r>
          </a:p>
          <a:p>
            <a:pPr>
              <a:spcBef>
                <a:spcPts val="800"/>
              </a:spcBef>
              <a:defRPr sz="1600" b="1">
                <a:solidFill>
                  <a:srgbClr val="FFFFFF"/>
                </a:solidFill>
                <a:latin typeface="Poppins"/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94A3B8"/>
                </a:solidFill>
                <a:latin typeface="Inter"/>
              </a:defRPr>
            </a:pPr>
            <a:r>
              <a:t>CONTACT: project-info@university.edu</a:t>
            </a:r>
          </a:p>
          <a:p>
            <a:pPr>
              <a:defRPr sz="1100" b="1">
                <a:solidFill>
                  <a:srgbClr val="94A3B8"/>
                </a:solidFill>
                <a:latin typeface="Inter"/>
              </a:defRPr>
            </a:pPr>
            <a:r>
              <a:t>CODE: github.com/project-repository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Inter"/>
              </a:defRPr>
            </a:pPr>
            <a:r>
              <a:t>Designed for the Computer Science &amp; Security Department  |  Academic Defense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